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V. 생식과 유전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3. 수정과 발생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목표 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수정란으로부터 개체가 발생하는 과정을 설명할 수 있다.</a:t>
            </a:r>
          </a:p>
          <a:p>
            <a:pPr/>
            <a:r>
              <a:t>정자와 난자의 특징을 비교하고 수정 과정에서의 역할을 이해한다.</a:t>
            </a:r>
          </a:p>
          <a:p>
            <a:pPr/>
            <a:r>
              <a:t>난할과 일반적인 체세포 분열의 차이점을 비교하여 설명할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생식세포 - 정자와 난자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▶ 정자 (Sperm)</a:t>
            </a:r>
          </a:p>
          <a:p>
            <a:pPr lvl="1"/>
            <a:r>
              <a:t>머리(핵)와 꼬리로 구성</a:t>
            </a:r>
          </a:p>
          <a:p>
            <a:pPr lvl="1"/>
            <a:r>
              <a:t>꼬리를 이용해 스스로 움직임</a:t>
            </a:r>
          </a:p>
          <a:p>
            <a:pPr lvl="1"/>
            <a:r>
              <a:t>아버지의 유전 물질(n) 전달</a:t>
            </a:r>
          </a:p>
          <a:p>
            <a:pPr>
              <a:defRPr b="1"/>
            </a:pPr>
            <a:r>
              <a:t>▶ 난자 (Ovum)</a:t>
            </a:r>
          </a:p>
          <a:p>
            <a:pPr lvl="1"/>
            <a:r>
              <a:t>정자보다 훨씬 큼 (많은 양분 저장)</a:t>
            </a:r>
          </a:p>
          <a:p>
            <a:pPr lvl="1"/>
            <a:r>
              <a:t>스스로 움직이지 못함</a:t>
            </a:r>
          </a:p>
          <a:p>
            <a:pPr lvl="1"/>
            <a:r>
              <a:t>어머니의 유전 물질(n) 전달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정자와 난자의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&lt;div class="flex justify-center"&gt;</a:t>
            </a:r>
            <a:br/>
            <a:r>
              <a:t>  &lt;img src="/images/gametes1_med.jpeg" class="rounded-xl shadow-lg max-w-2xl w-full" /&gt;</a:t>
            </a:r>
            <a:br/>
            <a:r>
              <a:t>&lt;/div&gt;</a:t>
            </a:r>
            <a:br/>
            <a:r>
              <a:t>&lt;p class="text-center mt-4 text-slate-500"&gt;각자의 역할(이동 vs 양분)에 최적화된 구조&lt;/p&gt;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수정 (Fertilization)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&lt;div class="bg-white p-6 rounded-xl border-l-4 border-amber-500"&gt;</a:t>
            </a:r>
            <a:br/>
            <a:r>
              <a:t>  &lt;h3 class="font-bold text-xl mb-2 text-amber-800"&gt;정의&lt;/h3&gt;</a:t>
            </a:r>
            <a:br/>
            <a:r>
              <a:t>  &lt;p class="text-lg mb-4"&gt;정자와 난자가 결합하여 수정란이 되는 과정&lt;/p&gt;</a:t>
            </a:r>
            <a:br/>
            <a:r>
              <a:t>  &lt;ul class="list-disc list-inside text-lg"&gt;</a:t>
            </a:r>
            <a:br/>
            <a:r>
              <a:t>    &lt;li&gt;장소: 수란관 상단부&lt;/li&gt;</a:t>
            </a:r>
            <a:br/>
            <a:r>
              <a:t>    &lt;li&gt;결과: 체세포와 같은 염색체 수 회복 (n + n = 2n)&lt;/li&gt;</a:t>
            </a:r>
            <a:br/>
            <a:r>
              <a:t>  &lt;/ul&gt;</a:t>
            </a:r>
            <a:br/>
            <a:r>
              <a:t>&lt;/div&gt;</a:t>
            </a:r>
          </a:p>
          <a:p>
            <a:pPr lvl="1"/>
            <a:r>
              <a:t>하나의 정자가 난자와 결합하는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발생 ① - 난할 (Cleavage)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&lt;div class="bg-indigo-50 p-6 rounded-xl"&gt;</a:t>
            </a:r>
            <a:br/>
            <a:r>
              <a:t>  &lt;h3 class="font-bold text-xl mb-2 text-indigo-800"&gt;특징&lt;/h3&gt;</a:t>
            </a:r>
            <a:br/>
            <a:r>
              <a:t>  &lt;ul class="space-y-2 text-lg"&gt;</a:t>
            </a:r>
            <a:br/>
            <a:r>
              <a:t>    &lt;li&gt;빠른 분열: 세포 생장기(간기)가 거의 없음&lt;/li&gt;</a:t>
            </a:r>
            <a:br/>
            <a:r>
              <a:t>    &lt;li&gt;세포 크기: 분열할수록 작아짐 (할구)&lt;/li&gt;</a:t>
            </a:r>
            <a:br/>
            <a:r>
              <a:t>    &lt;li&gt;전체 크기: 수정란과 거의 동일하게 유지&lt;/li&gt;</a:t>
            </a:r>
            <a:br/>
            <a:r>
              <a:t>  &lt;/ul&gt;</a:t>
            </a:r>
            <a:br/>
            <a:r>
              <a:t>&lt;/div&gt;</a:t>
            </a:r>
          </a:p>
          <a:p>
            <a:pPr lvl="1"/>
            <a:r>
              <a:t>2세포기 → 4세포기 → 8세포기 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난할 vs 체세포 분열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발생 ② - 착상과 태반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▶ 착상 (Implantation)</a:t>
            </a:r>
          </a:p>
          <a:p>
            <a:pPr lvl="1"/>
            <a:r>
              <a:t>수정 후 5~7일 뒤, 배아가 자궁 내막에 파고드는 현상. 이때부터 임신으로 간주함.</a:t>
            </a:r>
          </a:p>
          <a:p>
            <a:pPr>
              <a:defRPr b="1"/>
            </a:pPr>
            <a:r>
              <a:t>▶ 태반 (Placenta)</a:t>
            </a:r>
          </a:p>
          <a:p>
            <a:pPr lvl="1"/>
            <a:r>
              <a:t>모체와 태아 사이의 물질 교환 장소. (산소/영양소 공급, 노폐물 배출)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태아의 성장 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&lt;div class="grid grid-cols-3 gap-4"&gt;</a:t>
            </a:r>
            <a:br/>
            <a:r>
              <a:t>  &lt;div class="bg-white p-4 rounded-xl shadow-md"&gt;</a:t>
            </a:r>
            <a:br/>
            <a:r>
              <a:t>    &lt;img src="/images/fetus_11_weeks.jpg" class="rounded-lg h-40 w-full object-cover mb-2"/&gt;</a:t>
            </a:r>
            <a:br/>
            <a:r>
              <a:t>    &lt;h4 class="font-bold text-center"&gt;초기 (11주)&lt;/h4&gt;</a:t>
            </a:r>
            <a:br/>
            <a:r>
              <a:t>    &lt;p class="text-sm text-center"&gt;주요 기관 형성, 사람 모습 갖춤&lt;/p&gt;</a:t>
            </a:r>
            <a:br/>
            <a:r>
              <a:t>  &lt;/div&gt;</a:t>
            </a:r>
            <a:br/>
            <a:r>
              <a:t>  &lt;div class="bg-white p-4 rounded-xl shadow-md"&gt;</a:t>
            </a:r>
            <a:br/>
            <a:r>
              <a:t>    &lt;img src="/images/fetus_21_weeks.jpg" class="rounded-lg h-40 w-full object-cover mb-2"/&gt;</a:t>
            </a:r>
            <a:br/>
            <a:r>
              <a:t>    &lt;h4 class="font-bold text-center"&gt;중기 (21주)&lt;/h4&gt;</a:t>
            </a:r>
            <a:br/>
            <a:r>
              <a:t>    &lt;p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핵심 정리 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수정은 수란관에서 정자와 난자가 결합하는 것이다.</a:t>
            </a:r>
          </a:p>
          <a:p>
            <a:pPr/>
            <a:r>
              <a:t>난할은 세포 생장 없이 빠르게 분열하여 전체 크기가 일정하다.</a:t>
            </a:r>
          </a:p>
          <a:p>
            <a:pPr/>
            <a:r>
              <a:t>배아가 자궁 내막에 착상하면 임신이 시작된다.</a:t>
            </a:r>
          </a:p>
          <a:p>
            <a:pPr/>
            <a:r>
              <a:t>태반을 통해 모체로부터 영양소와 산소를 공급받는다.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